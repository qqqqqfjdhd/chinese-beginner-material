
<file path=[Content_Types].xml><?xml version="1.0" encoding="utf-8"?>
<Types xmlns="http://schemas.openxmlformats.org/package/2006/content-types">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notesSlides/notesSlide1.xml" Type="http://schemas.openxmlformats.org/officeDocument/2006/relationships/notesSlide"/><Relationship Id="rId17" Target="notesSlides/notesSlide2.xml" Type="http://schemas.openxmlformats.org/officeDocument/2006/relationships/notesSlide"/><Relationship Id="rId18" Target="notesSlides/notesSlide3.xml" Type="http://schemas.openxmlformats.org/officeDocument/2006/relationships/notesSlide"/><Relationship Id="rId19" Target="notesSlides/notesSlide4.xml" Type="http://schemas.openxmlformats.org/officeDocument/2006/relationships/notesSlide"/><Relationship Id="rId2" Target="viewProps.xml" Type="http://schemas.openxmlformats.org/officeDocument/2006/relationships/viewProps"/><Relationship Id="rId20" Target="notesSlides/notesSlide5.xml" Type="http://schemas.openxmlformats.org/officeDocument/2006/relationships/notesSlide"/><Relationship Id="rId21" Target="notesSlides/notesSlide6.xml" Type="http://schemas.openxmlformats.org/officeDocument/2006/relationships/notesSlide"/><Relationship Id="rId22" Target="notesSlides/notesSlide7.xml" Type="http://schemas.openxmlformats.org/officeDocument/2006/relationships/notesSlide"/><Relationship Id="rId3" Target="presProps.xml" Type="http://schemas.openxmlformats.org/officeDocument/2006/relationships/presProps"/><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Hello everyone! Today we're going to learn about food and drinks in Chinese. By the end of this short lesson, you'll be able to say what food you like. Let's start!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Let's look at what we'll achieve today. First, you'll learn four food words. Then you'll be able to say what you like using the sentence pattern. Finally, you'll be able to ask your friend what they like. Three goals for five minutes - let's go!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Alright, let's warm up. Last lesson we learned colours - red, blue, yellow. And we learned how to say what we like or don't like: "我喜欢红色" means "I like red". Now turn to your partner and ask "你喜欢红色吗？" - yes or no? Great, now we're ready for today's new words!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Great! Now let's meet our new food words. Look at the screen - we have four words today. First, 苹果 - that's apple. Repeat after me: píngguǒ. Good! Next, 香蕉 - banana. xiāngjiāo. Then 米饭 - rice. mǐfàn. And finally 水 - water. shuǐ. Now everyone repeat all four after me, ready? píngguǒ, xiāngjiāo, mǐfàn, shuǐ. Excellent!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Now it's game time! We're going to play "What's missing?". Here's how it works: look at all four food words on the screen. Now close your eyes... ready? I've taken one away! Open your eyes! Which one is missing? Shout it out in Chinese! Great, that was 香蕉! Let's play again...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Great! Now let's use our new words in a sentence. If you want to ask someone if they like apples, you say: "你喜欢苹果吗？" And if you like apples, you answer: "我喜欢苹果。" If you don't like them, you say: "我不喜欢苹果。" Now turn to your partner - ask them about apples, bananas, rice and water. Go!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Great work everyone! Let's quickly recap what we learned today. We can say four food words in Chinese: 苹果, 香蕉, 米饭, 水. And we can ask and answer: "你喜欢苹果吗？" "我喜欢苹果。" Well done! Next lesson we'll learn even more food words. See you then!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notesSlides/notesSlide7.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DF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101600"/>
          </a:xfrm>
          <a:prstGeom prst="roundRect">
            <a:avLst>
              <a:gd name="adj" fmla="val 0"/>
            </a:avLst>
          </a:prstGeom>
          <a:solidFill>
            <a:srgbClr val="E2883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txBox="true"/>
          <p:nvPr/>
        </p:nvSpPr>
        <p:spPr>
          <a:xfrm rot="0" flipH="false" flipV="false">
            <a:off x="1016000" y="1524000"/>
            <a:ext cx="10160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2B2F36"/>
                </a:solidFill>
                <a:latin typeface="Noto Sans SC"/>
                <a:ea typeface="Noto Sans SC"/>
                <a:cs typeface="Noto Sans SC"/>
                <a:sym typeface="Noto Sans SC"/>
              </a:rPr>
              <a:t>I like apples!</a:t>
            </a:r>
            <a:endParaRPr lang="en-US" sz="1100"/>
          </a:p>
        </p:txBody>
      </p:sp>
      <p:sp>
        <p:nvSpPr>
          <p:cNvPr name="AutoShape 4" id="4"/>
          <p:cNvSpPr txBox="true"/>
          <p:nvPr/>
        </p:nvSpPr>
        <p:spPr>
          <a:xfrm rot="0" flipH="false" flipV="false">
            <a:off x="1016000" y="2667000"/>
            <a:ext cx="10160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600">
                <a:solidFill>
                  <a:srgbClr val="E2883E"/>
                </a:solidFill>
                <a:latin typeface="Noto Sans SC"/>
                <a:ea typeface="Noto Sans SC"/>
                <a:cs typeface="Noto Sans SC"/>
                <a:sym typeface="Noto Sans SC"/>
              </a:rPr>
              <a:t>我喜欢苹果！</a:t>
            </a:r>
            <a:endParaRPr lang="en-US" sz="1100"/>
          </a:p>
        </p:txBody>
      </p:sp>
      <p:cxnSp>
        <p:nvCxnSpPr>
          <p:cNvPr name="Connector 5" id="5"/>
          <p:cNvCxnSpPr/>
          <p:nvPr/>
        </p:nvCxnSpPr>
        <p:spPr>
          <a:xfrm rot="-17188" flipH="false" flipV="false">
            <a:off x="4826016" y="3803650"/>
            <a:ext cx="2540000" cy="12700"/>
          </a:xfrm>
          <a:prstGeom prst="straightConnector1">
            <a:avLst/>
          </a:prstGeom>
          <a:solidFill>
            <a:srgbClr val="DEE0E3">
              <a:alpha val="100000"/>
            </a:srgbClr>
          </a:solidFill>
          <a:ln w="25400" cmpd="sng" cap="flat">
            <a:solidFill>
              <a:srgbClr val="E2883E">
                <a:alpha val="100000"/>
              </a:srgbClr>
            </a:solidFill>
            <a:prstDash val="solid"/>
            <a:round/>
            <a:headEnd type="none" w="lg" len="lg"/>
            <a:tailEnd type="none" w="lg" len="lg"/>
          </a:ln>
        </p:spPr>
      </p:cxnSp>
      <p:sp>
        <p:nvSpPr>
          <p:cNvPr name="AutoShape 6" id="6"/>
          <p:cNvSpPr txBox="true"/>
          <p:nvPr/>
        </p:nvSpPr>
        <p:spPr>
          <a:xfrm rot="0" flipH="false" flipV="false">
            <a:off x="1016000" y="4191000"/>
            <a:ext cx="10160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800">
                <a:solidFill>
                  <a:srgbClr val="646464"/>
                </a:solidFill>
                <a:latin typeface="Noto Sans SC"/>
                <a:ea typeface="Noto Sans SC"/>
                <a:cs typeface="Noto Sans SC"/>
                <a:sym typeface="Noto Sans SC"/>
              </a:rPr>
              <a:t>Food and Drinks · 5-minute micro-teaching</a:t>
            </a:r>
            <a:endParaRPr lang="en-US" sz="1100"/>
          </a:p>
        </p:txBody>
      </p:sp>
      <p:pic>
        <p:nvPicPr>
          <p:cNvPr name="Picture 7" id="7"/>
          <p:cNvPicPr>
            <a:picLocks noChangeAspect="true"/>
          </p:cNvPicPr>
          <p:nvPr/>
        </p:nvPicPr>
        <p:blipFill>
          <a:blip r:embed="rId2"/>
          <a:srcRect l="0" r="0" t="0" b="0"/>
          <a:stretch>
            <a:fillRect/>
          </a:stretch>
        </p:blipFill>
        <p:spPr>
          <a:xfrm rot="0" flipH="false" flipV="false">
            <a:off x="5080000" y="4826000"/>
            <a:ext cx="2032000" cy="2032000"/>
          </a:xfrm>
          <a:prstGeom prst="rect">
            <a:avLst/>
          </a:prstGeom>
          <a:noFill/>
          <a:ln w="25400" cmpd="sng" cap="flat">
            <a:noFill/>
            <a:prstDash val="solid"/>
            <a:round/>
          </a:ln>
        </p:spPr>
      </p:pic>
    </p:spTree>
  </p:cSld>
  <p:clrMapOvr>
    <a:masterClrMapping/>
  </p:clrMapOvr>
</p:sld>
</file>

<file path=ppt/slides/slide2.xml><?xml version="1.0" encoding="utf-8"?>
<p:sld xmlns:p="http://schemas.openxmlformats.org/presentationml/2006/main" xmlns:a="http://schemas.openxmlformats.org/drawingml/2006/main">
  <p:cSld>
    <p:bg>
      <p:bgPr>
        <a:solidFill>
          <a:srgbClr val="FFFDF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101600"/>
          </a:xfrm>
          <a:prstGeom prst="roundRect">
            <a:avLst>
              <a:gd name="adj" fmla="val 0"/>
            </a:avLst>
          </a:prstGeom>
          <a:solidFill>
            <a:srgbClr val="E2883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txBox="true"/>
          <p:nvPr/>
        </p:nvSpPr>
        <p:spPr>
          <a:xfrm rot="0" flipH="false" flipV="false">
            <a:off x="1016000" y="762000"/>
            <a:ext cx="1016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2B2F36"/>
                </a:solidFill>
                <a:latin typeface="Noto Sans SC"/>
                <a:ea typeface="Noto Sans SC"/>
                <a:cs typeface="Noto Sans SC"/>
                <a:sym typeface="Noto Sans SC"/>
              </a:rPr>
              <a:t>Today we will learn...</a:t>
            </a:r>
            <a:endParaRPr lang="en-US" sz="1100"/>
          </a:p>
        </p:txBody>
      </p:sp>
      <p:sp>
        <p:nvSpPr>
          <p:cNvPr name="AutoShape 4" id="4"/>
          <p:cNvSpPr txBox="true"/>
          <p:nvPr/>
        </p:nvSpPr>
        <p:spPr>
          <a:xfrm rot="0" flipH="false" flipV="false">
            <a:off x="1016000" y="1524000"/>
            <a:ext cx="1016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E2883E"/>
                </a:solidFill>
                <a:latin typeface="Noto Sans SC"/>
                <a:ea typeface="Noto Sans SC"/>
                <a:cs typeface="Noto Sans SC"/>
                <a:sym typeface="Noto Sans SC"/>
              </a:rPr>
              <a:t>今天我们要学……</a:t>
            </a:r>
            <a:endParaRPr lang="en-US" sz="1100"/>
          </a:p>
        </p:txBody>
      </p:sp>
      <p:cxnSp>
        <p:nvCxnSpPr>
          <p:cNvPr name="Connector 5" id="5"/>
          <p:cNvCxnSpPr/>
          <p:nvPr/>
        </p:nvCxnSpPr>
        <p:spPr>
          <a:xfrm rot="-4297" flipH="false" flipV="false">
            <a:off x="1016004" y="2279650"/>
            <a:ext cx="10160000" cy="12700"/>
          </a:xfrm>
          <a:prstGeom prst="straightConnector1">
            <a:avLst/>
          </a:prstGeom>
          <a:solidFill>
            <a:srgbClr val="DEE0E3">
              <a:alpha val="100000"/>
            </a:srgbClr>
          </a:solidFill>
          <a:ln w="12700" cmpd="sng" cap="flat">
            <a:solidFill>
              <a:srgbClr val="DCDCDC">
                <a:alpha val="100000"/>
              </a:srgbClr>
            </a:solidFill>
            <a:prstDash val="solid"/>
            <a:round/>
            <a:headEnd type="none" w="med" len="med"/>
            <a:tailEnd type="none" w="med" len="med"/>
          </a:ln>
        </p:spPr>
      </p:cxnSp>
      <p:sp>
        <p:nvSpPr>
          <p:cNvPr name="AutoShape 6" id="6"/>
          <p:cNvSpPr/>
          <p:nvPr/>
        </p:nvSpPr>
        <p:spPr>
          <a:xfrm rot="0" flipH="false" flipV="false">
            <a:off x="1524000" y="2921000"/>
            <a:ext cx="508000" cy="508000"/>
          </a:xfrm>
          <a:prstGeom prst="ellipse">
            <a:avLst/>
          </a:prstGeom>
          <a:solidFill>
            <a:srgbClr val="E2883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txBox="true"/>
          <p:nvPr/>
        </p:nvSpPr>
        <p:spPr>
          <a:xfrm rot="0" flipH="false" flipV="false">
            <a:off x="1625600" y="3022600"/>
            <a:ext cx="3048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solidFill>
                <a:latin typeface="Noto Sans SC"/>
                <a:ea typeface="Noto Sans SC"/>
                <a:cs typeface="Noto Sans SC"/>
                <a:sym typeface="Noto Sans SC"/>
              </a:rPr>
              <a:t>1</a:t>
            </a:r>
            <a:endParaRPr lang="en-US" sz="1100"/>
          </a:p>
        </p:txBody>
      </p:sp>
      <p:sp>
        <p:nvSpPr>
          <p:cNvPr name="AutoShape 8" id="8"/>
          <p:cNvSpPr txBox="true"/>
          <p:nvPr/>
        </p:nvSpPr>
        <p:spPr>
          <a:xfrm rot="0" flipH="false" flipV="false">
            <a:off x="2286000" y="2921000"/>
            <a:ext cx="863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000">
                <a:solidFill>
                  <a:srgbClr val="2B2F36"/>
                </a:solidFill>
                <a:latin typeface="Noto Sans SC"/>
                <a:ea typeface="Noto Sans SC"/>
                <a:cs typeface="Noto Sans SC"/>
                <a:sym typeface="Noto Sans SC"/>
              </a:rPr>
              <a:t>Say 4 food words in Chinese correctly</a:t>
            </a:r>
            <a:endParaRPr lang="en-US" sz="1100"/>
          </a:p>
        </p:txBody>
      </p:sp>
      <p:sp>
        <p:nvSpPr>
          <p:cNvPr name="AutoShape 9" id="9"/>
          <p:cNvSpPr/>
          <p:nvPr/>
        </p:nvSpPr>
        <p:spPr>
          <a:xfrm rot="0" flipH="false" flipV="false">
            <a:off x="1524000" y="3937000"/>
            <a:ext cx="508000" cy="508000"/>
          </a:xfrm>
          <a:prstGeom prst="ellipse">
            <a:avLst/>
          </a:prstGeom>
          <a:solidFill>
            <a:srgbClr val="60AB7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txBox="true"/>
          <p:nvPr/>
        </p:nvSpPr>
        <p:spPr>
          <a:xfrm rot="0" flipH="false" flipV="false">
            <a:off x="1625600" y="4038600"/>
            <a:ext cx="3048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solidFill>
                <a:latin typeface="Noto Sans SC"/>
                <a:ea typeface="Noto Sans SC"/>
                <a:cs typeface="Noto Sans SC"/>
                <a:sym typeface="Noto Sans SC"/>
              </a:rPr>
              <a:t>2</a:t>
            </a:r>
            <a:endParaRPr lang="en-US" sz="1100"/>
          </a:p>
        </p:txBody>
      </p:sp>
      <p:sp>
        <p:nvSpPr>
          <p:cNvPr name="AutoShape 11" id="11"/>
          <p:cNvSpPr txBox="true"/>
          <p:nvPr/>
        </p:nvSpPr>
        <p:spPr>
          <a:xfrm rot="0" flipH="false" flipV="false">
            <a:off x="2286000" y="3937000"/>
            <a:ext cx="863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000">
                <a:solidFill>
                  <a:srgbClr val="2B2F36"/>
                </a:solidFill>
                <a:latin typeface="Noto Sans SC"/>
                <a:ea typeface="Noto Sans SC"/>
                <a:cs typeface="Noto Sans SC"/>
                <a:sym typeface="Noto Sans SC"/>
              </a:rPr>
              <a:t>Use "我喜欢..." to say what food you like</a:t>
            </a:r>
            <a:endParaRPr lang="en-US" sz="1100"/>
          </a:p>
        </p:txBody>
      </p:sp>
      <p:sp>
        <p:nvSpPr>
          <p:cNvPr name="AutoShape 12" id="12"/>
          <p:cNvSpPr/>
          <p:nvPr/>
        </p:nvSpPr>
        <p:spPr>
          <a:xfrm rot="0" flipH="false" flipV="false">
            <a:off x="1524000" y="4953000"/>
            <a:ext cx="508000" cy="508000"/>
          </a:xfrm>
          <a:prstGeom prst="ellipse">
            <a:avLst/>
          </a:prstGeom>
          <a:solidFill>
            <a:srgbClr val="DB71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txBox="true"/>
          <p:nvPr/>
        </p:nvSpPr>
        <p:spPr>
          <a:xfrm rot="0" flipH="false" flipV="false">
            <a:off x="1625600" y="5054600"/>
            <a:ext cx="3048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solidFill>
                <a:latin typeface="Noto Sans SC"/>
                <a:ea typeface="Noto Sans SC"/>
                <a:cs typeface="Noto Sans SC"/>
                <a:sym typeface="Noto Sans SC"/>
              </a:rPr>
              <a:t>3</a:t>
            </a:r>
            <a:endParaRPr lang="en-US" sz="1100"/>
          </a:p>
        </p:txBody>
      </p:sp>
      <p:sp>
        <p:nvSpPr>
          <p:cNvPr name="AutoShape 14" id="14"/>
          <p:cNvSpPr txBox="true"/>
          <p:nvPr/>
        </p:nvSpPr>
        <p:spPr>
          <a:xfrm rot="0" flipH="false" flipV="false">
            <a:off x="2286000" y="4953000"/>
            <a:ext cx="863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000">
                <a:solidFill>
                  <a:srgbClr val="2B2F36"/>
                </a:solidFill>
                <a:latin typeface="Noto Sans SC"/>
                <a:ea typeface="Noto Sans SC"/>
                <a:cs typeface="Noto Sans SC"/>
                <a:sym typeface="Noto Sans SC"/>
              </a:rPr>
              <a:t>Ask a friend: "你喜欢苹果吗？"</a:t>
            </a:r>
            <a:endParaRPr lang="en-US" sz="1100"/>
          </a:p>
        </p:txBody>
      </p:sp>
      <p:sp>
        <p:nvSpPr>
          <p:cNvPr name="AutoShape 15" id="15"/>
          <p:cNvSpPr txBox="true"/>
          <p:nvPr/>
        </p:nvSpPr>
        <p:spPr>
          <a:xfrm rot="0" flipH="false" flipV="false">
            <a:off x="1016000" y="6096000"/>
            <a:ext cx="10160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969696"/>
                </a:solidFill>
                <a:latin typeface="Noto Sans SC"/>
                <a:ea typeface="Noto Sans SC"/>
                <a:cs typeface="Noto Sans SC"/>
                <a:sym typeface="Noto Sans SC"/>
              </a:rPr>
              <a:t>Can you do all three by the end of the lesson?</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FFDF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101600"/>
          </a:xfrm>
          <a:prstGeom prst="roundRect">
            <a:avLst>
              <a:gd name="adj" fmla="val 0"/>
            </a:avLst>
          </a:prstGeom>
          <a:solidFill>
            <a:srgbClr val="60AB7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635000"/>
            <a:ext cx="2032000" cy="406400"/>
          </a:xfrm>
          <a:prstGeom prst="roundRect">
            <a:avLst>
              <a:gd name="adj" fmla="val 50000"/>
            </a:avLst>
          </a:prstGeom>
          <a:solidFill>
            <a:srgbClr val="60AB7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txBox="true"/>
          <p:nvPr/>
        </p:nvSpPr>
        <p:spPr>
          <a:xfrm rot="0" flipH="false" flipV="false">
            <a:off x="1016000" y="685800"/>
            <a:ext cx="20320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FFFFFF"/>
                </a:solidFill>
                <a:latin typeface="Noto Sans SC"/>
                <a:ea typeface="Noto Sans SC"/>
                <a:cs typeface="Noto Sans SC"/>
                <a:sym typeface="Noto Sans SC"/>
              </a:rPr>
              <a:t>PART 1 · WARM-UP</a:t>
            </a:r>
            <a:endParaRPr lang="en-US" sz="1100"/>
          </a:p>
        </p:txBody>
      </p:sp>
      <p:sp>
        <p:nvSpPr>
          <p:cNvPr name="AutoShape 5" id="5"/>
          <p:cNvSpPr txBox="true"/>
          <p:nvPr/>
        </p:nvSpPr>
        <p:spPr>
          <a:xfrm rot="0" flipH="false" flipV="false">
            <a:off x="1016000" y="1270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B2F36"/>
                </a:solidFill>
                <a:latin typeface="Noto Sans SC"/>
                <a:ea typeface="Noto Sans SC"/>
                <a:cs typeface="Noto Sans SC"/>
                <a:sym typeface="Noto Sans SC"/>
              </a:rPr>
              <a:t>Last time we talked about colours</a:t>
            </a:r>
            <a:endParaRPr lang="en-US" sz="1100"/>
          </a:p>
        </p:txBody>
      </p:sp>
      <p:sp>
        <p:nvSpPr>
          <p:cNvPr name="AutoShape 6" id="6"/>
          <p:cNvSpPr txBox="true"/>
          <p:nvPr/>
        </p:nvSpPr>
        <p:spPr>
          <a:xfrm rot="0" flipH="false" flipV="false">
            <a:off x="1016000" y="1968500"/>
            <a:ext cx="10160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60AB70"/>
                </a:solidFill>
                <a:latin typeface="Noto Sans SC"/>
                <a:ea typeface="Noto Sans SC"/>
                <a:cs typeface="Noto Sans SC"/>
                <a:sym typeface="Noto Sans SC"/>
              </a:rPr>
              <a:t>上节课我们学了颜色</a:t>
            </a:r>
            <a:endParaRPr lang="en-US" sz="1100"/>
          </a:p>
        </p:txBody>
      </p:sp>
      <p:sp>
        <p:nvSpPr>
          <p:cNvPr name="AutoShape 7" id="7"/>
          <p:cNvSpPr/>
          <p:nvPr/>
        </p:nvSpPr>
        <p:spPr>
          <a:xfrm rot="0" flipH="false" flipV="false">
            <a:off x="1524000" y="2921000"/>
            <a:ext cx="635000" cy="635000"/>
          </a:xfrm>
          <a:prstGeom prst="ellipse">
            <a:avLst/>
          </a:prstGeom>
          <a:solidFill>
            <a:srgbClr val="DC505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txBox="true"/>
          <p:nvPr/>
        </p:nvSpPr>
        <p:spPr>
          <a:xfrm rot="0" flipH="false" flipV="false">
            <a:off x="2413000" y="3022600"/>
            <a:ext cx="2540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000">
                <a:solidFill>
                  <a:srgbClr val="2B2F36"/>
                </a:solidFill>
                <a:latin typeface="Noto Sans SC"/>
                <a:ea typeface="Noto Sans SC"/>
                <a:cs typeface="Noto Sans SC"/>
                <a:sym typeface="Noto Sans SC"/>
              </a:rPr>
              <a:t>红色 hóngsè</a:t>
            </a:r>
            <a:endParaRPr lang="en-US" sz="1100"/>
          </a:p>
        </p:txBody>
      </p:sp>
      <p:sp>
        <p:nvSpPr>
          <p:cNvPr name="AutoShape 9" id="9"/>
          <p:cNvSpPr/>
          <p:nvPr/>
        </p:nvSpPr>
        <p:spPr>
          <a:xfrm rot="0" flipH="false" flipV="false">
            <a:off x="1524000" y="3937000"/>
            <a:ext cx="635000" cy="635000"/>
          </a:xfrm>
          <a:prstGeom prst="ellipse">
            <a:avLst/>
          </a:prstGeom>
          <a:solidFill>
            <a:srgbClr val="4682C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txBox="true"/>
          <p:nvPr/>
        </p:nvSpPr>
        <p:spPr>
          <a:xfrm rot="0" flipH="false" flipV="false">
            <a:off x="2413000" y="4038600"/>
            <a:ext cx="2540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000">
                <a:solidFill>
                  <a:srgbClr val="2B2F36"/>
                </a:solidFill>
                <a:latin typeface="Noto Sans SC"/>
                <a:ea typeface="Noto Sans SC"/>
                <a:cs typeface="Noto Sans SC"/>
                <a:sym typeface="Noto Sans SC"/>
              </a:rPr>
              <a:t>蓝色 lánsè</a:t>
            </a:r>
            <a:endParaRPr lang="en-US" sz="1100"/>
          </a:p>
        </p:txBody>
      </p:sp>
      <p:sp>
        <p:nvSpPr>
          <p:cNvPr name="AutoShape 11" id="11"/>
          <p:cNvSpPr/>
          <p:nvPr/>
        </p:nvSpPr>
        <p:spPr>
          <a:xfrm rot="0" flipH="false" flipV="false">
            <a:off x="1524000" y="4953000"/>
            <a:ext cx="635000" cy="635000"/>
          </a:xfrm>
          <a:prstGeom prst="ellipse">
            <a:avLst/>
          </a:prstGeom>
          <a:solidFill>
            <a:srgbClr val="F0C83C">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txBox="true"/>
          <p:nvPr/>
        </p:nvSpPr>
        <p:spPr>
          <a:xfrm rot="0" flipH="false" flipV="false">
            <a:off x="2413000" y="5054600"/>
            <a:ext cx="2540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000">
                <a:solidFill>
                  <a:srgbClr val="2B2F36"/>
                </a:solidFill>
                <a:latin typeface="Noto Sans SC"/>
                <a:ea typeface="Noto Sans SC"/>
                <a:cs typeface="Noto Sans SC"/>
                <a:sym typeface="Noto Sans SC"/>
              </a:rPr>
              <a:t>黄色 huángsè</a:t>
            </a:r>
            <a:endParaRPr lang="en-US" sz="1100"/>
          </a:p>
        </p:txBody>
      </p:sp>
      <p:sp>
        <p:nvSpPr>
          <p:cNvPr name="AutoShape 13" id="13"/>
          <p:cNvSpPr/>
          <p:nvPr/>
        </p:nvSpPr>
        <p:spPr>
          <a:xfrm rot="0" flipH="false" flipV="false">
            <a:off x="6350000" y="3048000"/>
            <a:ext cx="4826000" cy="2286000"/>
          </a:xfrm>
          <a:prstGeom prst="roundRect">
            <a:avLst>
              <a:gd name="adj" fmla="val 8888"/>
            </a:avLst>
          </a:prstGeom>
          <a:solidFill>
            <a:srgbClr val="F0F8F0">
              <a:alpha val="100000"/>
            </a:srgbClr>
          </a:solidFill>
          <a:ln w="25400" cmpd="sng" cap="flat">
            <a:solidFill>
              <a:srgbClr val="60AB70">
                <a:alpha val="100000"/>
              </a:srgbClr>
            </a:solidFill>
            <a:prstDash val="solid"/>
            <a:round/>
          </a:ln>
        </p:spPr>
        <p:txBody>
          <a:bodyPr anchor="ctr" rtlCol="false" vert="horz" wrap="square" lIns="63500" rIns="63500" tIns="63500" bIns="63500"/>
          <a:lstStyle/>
          <a:p>
            <a:pPr algn="ctr">
              <a:defRPr/>
            </a:pPr>
            <a:endParaRPr/>
          </a:p>
        </p:txBody>
      </p:sp>
      <p:sp>
        <p:nvSpPr>
          <p:cNvPr name="AutoShape 14" id="14"/>
          <p:cNvSpPr txBox="true"/>
          <p:nvPr/>
        </p:nvSpPr>
        <p:spPr>
          <a:xfrm rot="0" flipH="false" flipV="false">
            <a:off x="6604000" y="3302000"/>
            <a:ext cx="4318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60AB70"/>
                </a:solidFill>
                <a:latin typeface="Noto Sans SC"/>
                <a:ea typeface="Noto Sans SC"/>
                <a:cs typeface="Noto Sans SC"/>
                <a:sym typeface="Noto Sans SC"/>
              </a:rPr>
              <a:t>Remember this pattern:</a:t>
            </a:r>
            <a:endParaRPr lang="en-US" sz="1100"/>
          </a:p>
        </p:txBody>
      </p:sp>
      <p:sp>
        <p:nvSpPr>
          <p:cNvPr name="AutoShape 15" id="15"/>
          <p:cNvSpPr txBox="true"/>
          <p:nvPr/>
        </p:nvSpPr>
        <p:spPr>
          <a:xfrm rot="0" flipH="false" flipV="false">
            <a:off x="6604000" y="3937000"/>
            <a:ext cx="431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2B2F36"/>
                </a:solidFill>
                <a:latin typeface="Noto Sans SC"/>
                <a:ea typeface="Noto Sans SC"/>
                <a:cs typeface="Noto Sans SC"/>
                <a:sym typeface="Noto Sans SC"/>
              </a:rPr>
              <a:t>我喜欢红色。</a:t>
            </a:r>
            <a:endParaRPr lang="en-US" sz="1100"/>
          </a:p>
        </p:txBody>
      </p:sp>
      <p:sp>
        <p:nvSpPr>
          <p:cNvPr name="AutoShape 16" id="16"/>
          <p:cNvSpPr txBox="true"/>
          <p:nvPr/>
        </p:nvSpPr>
        <p:spPr>
          <a:xfrm rot="0" flipH="false" flipV="false">
            <a:off x="6604000" y="4572000"/>
            <a:ext cx="431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2B2F36"/>
                </a:solidFill>
                <a:latin typeface="Noto Sans SC"/>
                <a:ea typeface="Noto Sans SC"/>
                <a:cs typeface="Noto Sans SC"/>
                <a:sym typeface="Noto Sans SC"/>
              </a:rPr>
              <a:t>我不喜欢蓝色。</a:t>
            </a:r>
            <a:endParaRPr lang="en-US" sz="1100"/>
          </a:p>
        </p:txBody>
      </p:sp>
      <p:sp>
        <p:nvSpPr>
          <p:cNvPr name="AutoShape 17" id="17"/>
          <p:cNvSpPr txBox="true"/>
          <p:nvPr/>
        </p:nvSpPr>
        <p:spPr>
          <a:xfrm rot="0" flipH="false" flipV="false">
            <a:off x="1016000" y="6096000"/>
            <a:ext cx="10160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969696"/>
                </a:solidFill>
                <a:latin typeface="Noto Sans SC"/>
                <a:ea typeface="Noto Sans SC"/>
                <a:cs typeface="Noto Sans SC"/>
                <a:sym typeface="Noto Sans SC"/>
              </a:rPr>
              <a:t>Quick check: ask your neighbour "你喜欢红色吗？"</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DF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101600"/>
          </a:xfrm>
          <a:prstGeom prst="roundRect">
            <a:avLst>
              <a:gd name="adj" fmla="val 0"/>
            </a:avLst>
          </a:prstGeom>
          <a:solidFill>
            <a:srgbClr val="E2883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635000"/>
            <a:ext cx="2540000" cy="406400"/>
          </a:xfrm>
          <a:prstGeom prst="roundRect">
            <a:avLst>
              <a:gd name="adj" fmla="val 50000"/>
            </a:avLst>
          </a:prstGeom>
          <a:solidFill>
            <a:srgbClr val="E2883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txBox="true"/>
          <p:nvPr/>
        </p:nvSpPr>
        <p:spPr>
          <a:xfrm rot="0" flipH="false" flipV="false">
            <a:off x="1016000" y="685800"/>
            <a:ext cx="2540000" cy="304800"/>
          </a:xfrm>
          <a:prstGeom prst="rect">
            <a:avLst/>
          </a:prstGeom>
          <a:noFill/>
          <a:ln w="12700" cmpd="sng" cap="flat">
            <a:noFill/>
            <a:prstDash val="solid"/>
            <a:round/>
          </a:ln>
        </p:spPr>
        <p:txBody>
          <a:bodyPr anchor="ctr" rtlCol="false" anchorCtr="false" vert="horz" wrap="none" lIns="0" rIns="0" tIns="0" bIns="0"/>
          <a:lstStyle/>
          <a:p>
            <a:pPr algn="ctr" marL="0" indent="0">
              <a:lnSpc>
                <a:spcPct val="125000"/>
              </a:lnSpc>
              <a:defRPr/>
            </a:pPr>
            <a:r>
              <a:rPr lang="en-US" b="true" i="false" strike="noStrike" u="none" sz="1300">
                <a:solidFill>
                  <a:srgbClr val="FFFFFF"/>
                </a:solidFill>
                <a:latin typeface="Noto Sans SC"/>
                <a:ea typeface="Noto Sans SC"/>
                <a:cs typeface="Noto Sans SC"/>
                <a:sym typeface="Noto Sans SC"/>
              </a:rPr>
              <a:t>PART 2 · NEW WORDS</a:t>
            </a:r>
            <a:endParaRPr lang="en-US" sz="1100"/>
          </a:p>
        </p:txBody>
      </p:sp>
      <p:sp>
        <p:nvSpPr>
          <p:cNvPr name="AutoShape 5" id="5"/>
          <p:cNvSpPr txBox="true"/>
          <p:nvPr/>
        </p:nvSpPr>
        <p:spPr>
          <a:xfrm rot="0" flipH="false" flipV="false">
            <a:off x="1016000" y="1270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B2F36"/>
                </a:solidFill>
                <a:latin typeface="Noto Sans SC"/>
                <a:ea typeface="Noto Sans SC"/>
                <a:cs typeface="Noto Sans SC"/>
                <a:sym typeface="Noto Sans SC"/>
              </a:rPr>
              <a:t>Let's learn food words!</a:t>
            </a:r>
            <a:endParaRPr lang="en-US" sz="1100"/>
          </a:p>
        </p:txBody>
      </p:sp>
      <p:sp>
        <p:nvSpPr>
          <p:cNvPr name="AutoShape 6" id="6"/>
          <p:cNvSpPr txBox="true"/>
          <p:nvPr/>
        </p:nvSpPr>
        <p:spPr>
          <a:xfrm rot="0" flipH="false" flipV="false">
            <a:off x="1016000" y="1968500"/>
            <a:ext cx="10160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E2883E"/>
                </a:solidFill>
                <a:latin typeface="Noto Sans SC"/>
                <a:ea typeface="Noto Sans SC"/>
                <a:cs typeface="Noto Sans SC"/>
                <a:sym typeface="Noto Sans SC"/>
              </a:rPr>
              <a:t>我们来学食物的说法</a:t>
            </a:r>
            <a:endParaRPr lang="en-US" sz="1100"/>
          </a:p>
        </p:txBody>
      </p:sp>
      <p:pic>
        <p:nvPicPr>
          <p:cNvPr name="Picture 7" id="7"/>
          <p:cNvPicPr>
            <a:picLocks noChangeAspect="true"/>
          </p:cNvPicPr>
          <p:nvPr/>
        </p:nvPicPr>
        <p:blipFill>
          <a:blip r:embed="rId2"/>
          <a:srcRect l="0" r="0" t="0" b="0"/>
          <a:stretch>
            <a:fillRect/>
          </a:stretch>
        </p:blipFill>
        <p:spPr>
          <a:xfrm rot="0" flipH="false" flipV="false">
            <a:off x="1270000" y="2794000"/>
            <a:ext cx="1778000" cy="1778000"/>
          </a:xfrm>
          <a:prstGeom prst="rect">
            <a:avLst/>
          </a:prstGeom>
          <a:noFill/>
          <a:ln w="25400" cmpd="sng" cap="flat">
            <a:noFill/>
            <a:prstDash val="solid"/>
            <a:round/>
          </a:ln>
        </p:spPr>
      </p:pic>
      <p:sp>
        <p:nvSpPr>
          <p:cNvPr name="AutoShape 8" id="8"/>
          <p:cNvSpPr txBox="true"/>
          <p:nvPr/>
        </p:nvSpPr>
        <p:spPr>
          <a:xfrm rot="0" flipH="false" flipV="false">
            <a:off x="1016000" y="4699000"/>
            <a:ext cx="2286000" cy="457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200">
                <a:solidFill>
                  <a:srgbClr val="2B2F36"/>
                </a:solidFill>
                <a:latin typeface="Noto Sans SC"/>
                <a:ea typeface="Noto Sans SC"/>
                <a:cs typeface="Noto Sans SC"/>
                <a:sym typeface="Noto Sans SC"/>
              </a:rPr>
              <a:t>苹果</a:t>
            </a:r>
            <a:endParaRPr lang="en-US" sz="1100"/>
          </a:p>
        </p:txBody>
      </p:sp>
      <p:sp>
        <p:nvSpPr>
          <p:cNvPr name="AutoShape 9" id="9"/>
          <p:cNvSpPr txBox="true"/>
          <p:nvPr/>
        </p:nvSpPr>
        <p:spPr>
          <a:xfrm rot="0" flipH="false" flipV="false">
            <a:off x="1016000" y="5181600"/>
            <a:ext cx="2286000" cy="355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969696"/>
                </a:solidFill>
                <a:latin typeface="Noto Sans SC"/>
                <a:ea typeface="Noto Sans SC"/>
                <a:cs typeface="Noto Sans SC"/>
                <a:sym typeface="Noto Sans SC"/>
              </a:rPr>
              <a:t>píngguǒ · apple</a:t>
            </a:r>
            <a:endParaRPr lang="en-US" sz="1100"/>
          </a:p>
        </p:txBody>
      </p:sp>
      <p:pic>
        <p:nvPicPr>
          <p:cNvPr name="Picture 10" id="10"/>
          <p:cNvPicPr>
            <a:picLocks noChangeAspect="true"/>
          </p:cNvPicPr>
          <p:nvPr/>
        </p:nvPicPr>
        <p:blipFill>
          <a:blip r:embed="rId3"/>
          <a:srcRect l="0" r="0" t="0" b="0"/>
          <a:stretch>
            <a:fillRect/>
          </a:stretch>
        </p:blipFill>
        <p:spPr>
          <a:xfrm rot="0" flipH="false" flipV="false">
            <a:off x="3937000" y="2794000"/>
            <a:ext cx="1778000" cy="1778000"/>
          </a:xfrm>
          <a:prstGeom prst="rect">
            <a:avLst/>
          </a:prstGeom>
          <a:noFill/>
          <a:ln w="25400" cmpd="sng" cap="flat">
            <a:noFill/>
            <a:prstDash val="solid"/>
            <a:round/>
          </a:ln>
        </p:spPr>
      </p:pic>
      <p:sp>
        <p:nvSpPr>
          <p:cNvPr name="AutoShape 11" id="11"/>
          <p:cNvSpPr txBox="true"/>
          <p:nvPr/>
        </p:nvSpPr>
        <p:spPr>
          <a:xfrm rot="0" flipH="false" flipV="false">
            <a:off x="3683000" y="4699000"/>
            <a:ext cx="2286000" cy="457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200">
                <a:solidFill>
                  <a:srgbClr val="2B2F36"/>
                </a:solidFill>
                <a:latin typeface="Noto Sans SC"/>
                <a:ea typeface="Noto Sans SC"/>
                <a:cs typeface="Noto Sans SC"/>
                <a:sym typeface="Noto Sans SC"/>
              </a:rPr>
              <a:t>香蕉</a:t>
            </a:r>
            <a:endParaRPr lang="en-US" sz="1100"/>
          </a:p>
        </p:txBody>
      </p:sp>
      <p:sp>
        <p:nvSpPr>
          <p:cNvPr name="AutoShape 12" id="12"/>
          <p:cNvSpPr txBox="true"/>
          <p:nvPr/>
        </p:nvSpPr>
        <p:spPr>
          <a:xfrm rot="0" flipH="false" flipV="false">
            <a:off x="3683000" y="5181600"/>
            <a:ext cx="2286000" cy="355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969696"/>
                </a:solidFill>
                <a:latin typeface="Noto Sans SC"/>
                <a:ea typeface="Noto Sans SC"/>
                <a:cs typeface="Noto Sans SC"/>
                <a:sym typeface="Noto Sans SC"/>
              </a:rPr>
              <a:t>xiāngjiāo · banana</a:t>
            </a:r>
            <a:endParaRPr lang="en-US" sz="1100"/>
          </a:p>
        </p:txBody>
      </p:sp>
      <p:pic>
        <p:nvPicPr>
          <p:cNvPr name="Picture 13" id="13"/>
          <p:cNvPicPr>
            <a:picLocks noChangeAspect="true"/>
          </p:cNvPicPr>
          <p:nvPr/>
        </p:nvPicPr>
        <p:blipFill>
          <a:blip r:embed="rId4"/>
          <a:srcRect l="0" r="0" t="0" b="0"/>
          <a:stretch>
            <a:fillRect/>
          </a:stretch>
        </p:blipFill>
        <p:spPr>
          <a:xfrm rot="0" flipH="false" flipV="false">
            <a:off x="6604000" y="2794000"/>
            <a:ext cx="1778000" cy="1778000"/>
          </a:xfrm>
          <a:prstGeom prst="rect">
            <a:avLst/>
          </a:prstGeom>
          <a:noFill/>
          <a:ln w="25400" cmpd="sng" cap="flat">
            <a:noFill/>
            <a:prstDash val="solid"/>
            <a:round/>
          </a:ln>
        </p:spPr>
      </p:pic>
      <p:sp>
        <p:nvSpPr>
          <p:cNvPr name="AutoShape 14" id="14"/>
          <p:cNvSpPr txBox="true"/>
          <p:nvPr/>
        </p:nvSpPr>
        <p:spPr>
          <a:xfrm rot="0" flipH="false" flipV="false">
            <a:off x="6350000" y="4699000"/>
            <a:ext cx="2286000" cy="457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200">
                <a:solidFill>
                  <a:srgbClr val="2B2F36"/>
                </a:solidFill>
                <a:latin typeface="Noto Sans SC"/>
                <a:ea typeface="Noto Sans SC"/>
                <a:cs typeface="Noto Sans SC"/>
                <a:sym typeface="Noto Sans SC"/>
              </a:rPr>
              <a:t>米饭</a:t>
            </a:r>
            <a:endParaRPr lang="en-US" sz="1100"/>
          </a:p>
        </p:txBody>
      </p:sp>
      <p:sp>
        <p:nvSpPr>
          <p:cNvPr name="AutoShape 15" id="15"/>
          <p:cNvSpPr txBox="true"/>
          <p:nvPr/>
        </p:nvSpPr>
        <p:spPr>
          <a:xfrm rot="0" flipH="false" flipV="false">
            <a:off x="6350000" y="5181600"/>
            <a:ext cx="2286000" cy="355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969696"/>
                </a:solidFill>
                <a:latin typeface="Noto Sans SC"/>
                <a:ea typeface="Noto Sans SC"/>
                <a:cs typeface="Noto Sans SC"/>
                <a:sym typeface="Noto Sans SC"/>
              </a:rPr>
              <a:t>mǐfàn · rice</a:t>
            </a:r>
            <a:endParaRPr lang="en-US" sz="1100"/>
          </a:p>
        </p:txBody>
      </p:sp>
      <p:pic>
        <p:nvPicPr>
          <p:cNvPr name="Picture 16" id="16"/>
          <p:cNvPicPr>
            <a:picLocks noChangeAspect="true"/>
          </p:cNvPicPr>
          <p:nvPr/>
        </p:nvPicPr>
        <p:blipFill>
          <a:blip r:embed="rId5"/>
          <a:srcRect l="0" r="0" t="0" b="0"/>
          <a:stretch>
            <a:fillRect/>
          </a:stretch>
        </p:blipFill>
        <p:spPr>
          <a:xfrm rot="0" flipH="false" flipV="false">
            <a:off x="9271000" y="2794000"/>
            <a:ext cx="1778000" cy="1778000"/>
          </a:xfrm>
          <a:prstGeom prst="rect">
            <a:avLst/>
          </a:prstGeom>
          <a:noFill/>
          <a:ln w="25400" cmpd="sng" cap="flat">
            <a:noFill/>
            <a:prstDash val="solid"/>
            <a:round/>
          </a:ln>
        </p:spPr>
      </p:pic>
      <p:sp>
        <p:nvSpPr>
          <p:cNvPr name="AutoShape 17" id="17"/>
          <p:cNvSpPr txBox="true"/>
          <p:nvPr/>
        </p:nvSpPr>
        <p:spPr>
          <a:xfrm rot="0" flipH="false" flipV="false">
            <a:off x="9017000" y="4699000"/>
            <a:ext cx="2286000" cy="457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200">
                <a:solidFill>
                  <a:srgbClr val="2B2F36"/>
                </a:solidFill>
                <a:latin typeface="Noto Sans SC"/>
                <a:ea typeface="Noto Sans SC"/>
                <a:cs typeface="Noto Sans SC"/>
                <a:sym typeface="Noto Sans SC"/>
              </a:rPr>
              <a:t>水</a:t>
            </a:r>
            <a:endParaRPr lang="en-US" sz="1100"/>
          </a:p>
        </p:txBody>
      </p:sp>
      <p:sp>
        <p:nvSpPr>
          <p:cNvPr name="AutoShape 18" id="18"/>
          <p:cNvSpPr txBox="true"/>
          <p:nvPr/>
        </p:nvSpPr>
        <p:spPr>
          <a:xfrm rot="0" flipH="false" flipV="false">
            <a:off x="9017000" y="5181600"/>
            <a:ext cx="2286000" cy="355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969696"/>
                </a:solidFill>
                <a:latin typeface="Noto Sans SC"/>
                <a:ea typeface="Noto Sans SC"/>
                <a:cs typeface="Noto Sans SC"/>
                <a:sym typeface="Noto Sans SC"/>
              </a:rPr>
              <a:t>shuǐ · water</a:t>
            </a:r>
            <a:endParaRPr lang="en-US" sz="1100"/>
          </a:p>
        </p:txBody>
      </p:sp>
      <p:sp>
        <p:nvSpPr>
          <p:cNvPr name="AutoShape 19" id="19"/>
          <p:cNvSpPr txBox="true"/>
          <p:nvPr/>
        </p:nvSpPr>
        <p:spPr>
          <a:xfrm rot="0" flipH="false" flipV="false">
            <a:off x="1016000" y="6096000"/>
            <a:ext cx="10160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969696"/>
                </a:solidFill>
                <a:latin typeface="Noto Sans SC"/>
                <a:ea typeface="Noto Sans SC"/>
                <a:cs typeface="Noto Sans SC"/>
                <a:sym typeface="Noto Sans SC"/>
              </a:rPr>
              <a:t>Listen and repeat after me: píngguǒ, xiāngjiāo, mǐfàn, shuǐ</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DF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101600"/>
          </a:xfrm>
          <a:prstGeom prst="roundRect">
            <a:avLst>
              <a:gd name="adj" fmla="val 0"/>
            </a:avLst>
          </a:prstGeom>
          <a:solidFill>
            <a:srgbClr val="DB71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635000"/>
            <a:ext cx="2286000" cy="406400"/>
          </a:xfrm>
          <a:prstGeom prst="roundRect">
            <a:avLst>
              <a:gd name="adj" fmla="val 50000"/>
            </a:avLst>
          </a:prstGeom>
          <a:solidFill>
            <a:srgbClr val="DB71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txBox="true"/>
          <p:nvPr/>
        </p:nvSpPr>
        <p:spPr>
          <a:xfrm rot="0" flipH="false" flipV="false">
            <a:off x="1016000" y="685800"/>
            <a:ext cx="2286000" cy="304800"/>
          </a:xfrm>
          <a:prstGeom prst="rect">
            <a:avLst/>
          </a:prstGeom>
          <a:noFill/>
          <a:ln w="12700" cmpd="sng" cap="flat">
            <a:noFill/>
            <a:prstDash val="solid"/>
            <a:round/>
          </a:ln>
        </p:spPr>
        <p:txBody>
          <a:bodyPr anchor="ctr" rtlCol="false" anchorCtr="false" vert="horz" wrap="none" lIns="0" rIns="0" tIns="0" bIns="0"/>
          <a:lstStyle/>
          <a:p>
            <a:pPr algn="ctr" marL="0" indent="0">
              <a:lnSpc>
                <a:spcPct val="125000"/>
              </a:lnSpc>
              <a:defRPr/>
            </a:pPr>
            <a:r>
              <a:rPr lang="en-US" b="true" i="false" strike="noStrike" u="none" sz="1300">
                <a:solidFill>
                  <a:srgbClr val="FFFFFF"/>
                </a:solidFill>
                <a:latin typeface="Noto Sans SC"/>
                <a:ea typeface="Noto Sans SC"/>
                <a:cs typeface="Noto Sans SC"/>
                <a:sym typeface="Noto Sans SC"/>
              </a:rPr>
              <a:t>PART 3 · ACTIVITY</a:t>
            </a:r>
            <a:endParaRPr lang="en-US" sz="1100"/>
          </a:p>
        </p:txBody>
      </p:sp>
      <p:sp>
        <p:nvSpPr>
          <p:cNvPr name="AutoShape 5" id="5"/>
          <p:cNvSpPr txBox="true"/>
          <p:nvPr/>
        </p:nvSpPr>
        <p:spPr>
          <a:xfrm rot="0" flipH="false" flipV="false">
            <a:off x="1016000" y="1270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B2F36"/>
                </a:solidFill>
                <a:latin typeface="Noto Sans SC"/>
                <a:ea typeface="Noto Sans SC"/>
                <a:cs typeface="Noto Sans SC"/>
                <a:sym typeface="Noto Sans SC"/>
              </a:rPr>
              <a:t>Game time: What's missing?</a:t>
            </a:r>
            <a:endParaRPr lang="en-US" sz="1100"/>
          </a:p>
        </p:txBody>
      </p:sp>
      <p:sp>
        <p:nvSpPr>
          <p:cNvPr name="AutoShape 6" id="6"/>
          <p:cNvSpPr txBox="true"/>
          <p:nvPr/>
        </p:nvSpPr>
        <p:spPr>
          <a:xfrm rot="0" flipH="false" flipV="false">
            <a:off x="1016000" y="1968500"/>
            <a:ext cx="10160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DB714F"/>
                </a:solidFill>
                <a:latin typeface="Noto Sans SC"/>
                <a:ea typeface="Noto Sans SC"/>
                <a:cs typeface="Noto Sans SC"/>
                <a:sym typeface="Noto Sans SC"/>
              </a:rPr>
              <a:t>游戏时间：哪个不见了？</a:t>
            </a:r>
            <a:endParaRPr lang="en-US" sz="1100"/>
          </a:p>
        </p:txBody>
      </p:sp>
      <p:sp>
        <p:nvSpPr>
          <p:cNvPr name="AutoShape 7" id="7"/>
          <p:cNvSpPr txBox="true"/>
          <p:nvPr/>
        </p:nvSpPr>
        <p:spPr>
          <a:xfrm rot="0" flipH="false" flipV="false">
            <a:off x="1016000" y="2794000"/>
            <a:ext cx="5080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B2F36"/>
                </a:solidFill>
                <a:latin typeface="Noto Sans SC"/>
                <a:ea typeface="Noto Sans SC"/>
                <a:cs typeface="Noto Sans SC"/>
                <a:sym typeface="Noto Sans SC"/>
              </a:rPr>
              <a:t>How to play:</a:t>
            </a:r>
            <a:endParaRPr lang="en-US" sz="1100"/>
          </a:p>
        </p:txBody>
      </p:sp>
      <p:sp>
        <p:nvSpPr>
          <p:cNvPr name="AutoShape 8" id="8"/>
          <p:cNvSpPr/>
          <p:nvPr/>
        </p:nvSpPr>
        <p:spPr>
          <a:xfrm rot="0" flipH="false" flipV="false">
            <a:off x="1143000" y="3492500"/>
            <a:ext cx="355600" cy="355600"/>
          </a:xfrm>
          <a:prstGeom prst="ellipse">
            <a:avLst/>
          </a:prstGeom>
          <a:solidFill>
            <a:srgbClr val="DB71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txBox="true"/>
          <p:nvPr/>
        </p:nvSpPr>
        <p:spPr>
          <a:xfrm rot="0" flipH="false" flipV="false">
            <a:off x="1219200" y="3543300"/>
            <a:ext cx="2540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FFFFFF"/>
                </a:solidFill>
                <a:latin typeface="Noto Sans SC"/>
                <a:ea typeface="Noto Sans SC"/>
                <a:cs typeface="Noto Sans SC"/>
                <a:sym typeface="Noto Sans SC"/>
              </a:rPr>
              <a:t>1</a:t>
            </a:r>
            <a:endParaRPr lang="en-US" sz="1100"/>
          </a:p>
        </p:txBody>
      </p:sp>
      <p:sp>
        <p:nvSpPr>
          <p:cNvPr name="AutoShape 10" id="10"/>
          <p:cNvSpPr txBox="true"/>
          <p:nvPr/>
        </p:nvSpPr>
        <p:spPr>
          <a:xfrm rot="0" flipH="false" flipV="false">
            <a:off x="1651000" y="3492500"/>
            <a:ext cx="4445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2B2F36"/>
                </a:solidFill>
                <a:latin typeface="Noto Sans SC"/>
                <a:ea typeface="Noto Sans SC"/>
                <a:cs typeface="Noto Sans SC"/>
                <a:sym typeface="Noto Sans SC"/>
              </a:rPr>
              <a:t>Look at all four words on the screen</a:t>
            </a:r>
            <a:endParaRPr lang="en-US" sz="1100"/>
          </a:p>
        </p:txBody>
      </p:sp>
      <p:sp>
        <p:nvSpPr>
          <p:cNvPr name="AutoShape 11" id="11"/>
          <p:cNvSpPr/>
          <p:nvPr/>
        </p:nvSpPr>
        <p:spPr>
          <a:xfrm rot="0" flipH="false" flipV="false">
            <a:off x="1143000" y="4127500"/>
            <a:ext cx="355600" cy="355600"/>
          </a:xfrm>
          <a:prstGeom prst="ellipse">
            <a:avLst/>
          </a:prstGeom>
          <a:solidFill>
            <a:srgbClr val="DB71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txBox="true"/>
          <p:nvPr/>
        </p:nvSpPr>
        <p:spPr>
          <a:xfrm rot="0" flipH="false" flipV="false">
            <a:off x="1219200" y="4178300"/>
            <a:ext cx="2540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FFFFFF"/>
                </a:solidFill>
                <a:latin typeface="Noto Sans SC"/>
                <a:ea typeface="Noto Sans SC"/>
                <a:cs typeface="Noto Sans SC"/>
                <a:sym typeface="Noto Sans SC"/>
              </a:rPr>
              <a:t>2</a:t>
            </a:r>
            <a:endParaRPr lang="en-US" sz="1100"/>
          </a:p>
        </p:txBody>
      </p:sp>
      <p:sp>
        <p:nvSpPr>
          <p:cNvPr name="AutoShape 13" id="13"/>
          <p:cNvSpPr txBox="true"/>
          <p:nvPr/>
        </p:nvSpPr>
        <p:spPr>
          <a:xfrm rot="0" flipH="false" flipV="false">
            <a:off x="1651000" y="4127500"/>
            <a:ext cx="4445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2B2F36"/>
                </a:solidFill>
                <a:latin typeface="Noto Sans SC"/>
                <a:ea typeface="Noto Sans SC"/>
                <a:cs typeface="Noto Sans SC"/>
                <a:sym typeface="Noto Sans SC"/>
              </a:rPr>
              <a:t>Close your eyes!</a:t>
            </a:r>
            <a:endParaRPr lang="en-US" sz="1100"/>
          </a:p>
        </p:txBody>
      </p:sp>
      <p:sp>
        <p:nvSpPr>
          <p:cNvPr name="AutoShape 14" id="14"/>
          <p:cNvSpPr/>
          <p:nvPr/>
        </p:nvSpPr>
        <p:spPr>
          <a:xfrm rot="0" flipH="false" flipV="false">
            <a:off x="1143000" y="4762500"/>
            <a:ext cx="355600" cy="355600"/>
          </a:xfrm>
          <a:prstGeom prst="ellipse">
            <a:avLst/>
          </a:prstGeom>
          <a:solidFill>
            <a:srgbClr val="DB71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txBox="true"/>
          <p:nvPr/>
        </p:nvSpPr>
        <p:spPr>
          <a:xfrm rot="0" flipH="false" flipV="false">
            <a:off x="1219200" y="4813300"/>
            <a:ext cx="2540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FFFFFF"/>
                </a:solidFill>
                <a:latin typeface="Noto Sans SC"/>
                <a:ea typeface="Noto Sans SC"/>
                <a:cs typeface="Noto Sans SC"/>
                <a:sym typeface="Noto Sans SC"/>
              </a:rPr>
              <a:t>3</a:t>
            </a:r>
            <a:endParaRPr lang="en-US" sz="1100"/>
          </a:p>
        </p:txBody>
      </p:sp>
      <p:sp>
        <p:nvSpPr>
          <p:cNvPr name="AutoShape 16" id="16"/>
          <p:cNvSpPr txBox="true"/>
          <p:nvPr/>
        </p:nvSpPr>
        <p:spPr>
          <a:xfrm rot="0" flipH="false" flipV="false">
            <a:off x="1651000" y="4762500"/>
            <a:ext cx="4445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2B2F36"/>
                </a:solidFill>
                <a:latin typeface="Noto Sans SC"/>
                <a:ea typeface="Noto Sans SC"/>
                <a:cs typeface="Noto Sans SC"/>
                <a:sym typeface="Noto Sans SC"/>
              </a:rPr>
              <a:t>I take one away. Open your eyes!</a:t>
            </a:r>
            <a:endParaRPr lang="en-US" sz="1100"/>
          </a:p>
        </p:txBody>
      </p:sp>
      <p:sp>
        <p:nvSpPr>
          <p:cNvPr name="AutoShape 17" id="17"/>
          <p:cNvSpPr/>
          <p:nvPr/>
        </p:nvSpPr>
        <p:spPr>
          <a:xfrm rot="0" flipH="false" flipV="false">
            <a:off x="1143000" y="5397500"/>
            <a:ext cx="355600" cy="355600"/>
          </a:xfrm>
          <a:prstGeom prst="ellipse">
            <a:avLst/>
          </a:prstGeom>
          <a:solidFill>
            <a:srgbClr val="DB71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txBox="true"/>
          <p:nvPr/>
        </p:nvSpPr>
        <p:spPr>
          <a:xfrm rot="0" flipH="false" flipV="false">
            <a:off x="1219200" y="5448300"/>
            <a:ext cx="2540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FFFFFF"/>
                </a:solidFill>
                <a:latin typeface="Noto Sans SC"/>
                <a:ea typeface="Noto Sans SC"/>
                <a:cs typeface="Noto Sans SC"/>
                <a:sym typeface="Noto Sans SC"/>
              </a:rPr>
              <a:t>4</a:t>
            </a:r>
            <a:endParaRPr lang="en-US" sz="1100"/>
          </a:p>
        </p:txBody>
      </p:sp>
      <p:sp>
        <p:nvSpPr>
          <p:cNvPr name="AutoShape 19" id="19"/>
          <p:cNvSpPr txBox="true"/>
          <p:nvPr/>
        </p:nvSpPr>
        <p:spPr>
          <a:xfrm rot="0" flipH="false" flipV="false">
            <a:off x="1651000" y="5397500"/>
            <a:ext cx="4445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2B2F36"/>
                </a:solidFill>
                <a:latin typeface="Noto Sans SC"/>
                <a:ea typeface="Noto Sans SC"/>
                <a:cs typeface="Noto Sans SC"/>
                <a:sym typeface="Noto Sans SC"/>
              </a:rPr>
              <a:t>Tell me: "苹果！" - what's missing?</a:t>
            </a:r>
            <a:endParaRPr lang="en-US" sz="1100"/>
          </a:p>
        </p:txBody>
      </p:sp>
      <p:pic>
        <p:nvPicPr>
          <p:cNvPr name="Picture 20" id="20"/>
          <p:cNvPicPr>
            <a:picLocks noChangeAspect="true"/>
          </p:cNvPicPr>
          <p:nvPr/>
        </p:nvPicPr>
        <p:blipFill>
          <a:blip r:embed="rId2"/>
          <a:srcRect l="0" r="0" t="0" b="0"/>
          <a:stretch>
            <a:fillRect/>
          </a:stretch>
        </p:blipFill>
        <p:spPr>
          <a:xfrm rot="0" flipH="false" flipV="false">
            <a:off x="6604000" y="2921000"/>
            <a:ext cx="1270000" cy="1270000"/>
          </a:xfrm>
          <a:prstGeom prst="rect">
            <a:avLst/>
          </a:prstGeom>
          <a:noFill/>
          <a:ln w="25400" cmpd="sng" cap="flat">
            <a:noFill/>
            <a:prstDash val="solid"/>
            <a:round/>
          </a:ln>
        </p:spPr>
      </p:pic>
      <p:pic>
        <p:nvPicPr>
          <p:cNvPr name="Picture 21" id="21"/>
          <p:cNvPicPr>
            <a:picLocks noChangeAspect="true"/>
          </p:cNvPicPr>
          <p:nvPr/>
        </p:nvPicPr>
        <p:blipFill>
          <a:blip r:embed="rId3"/>
          <a:srcRect l="0" r="0" t="0" b="0"/>
          <a:stretch>
            <a:fillRect/>
          </a:stretch>
        </p:blipFill>
        <p:spPr>
          <a:xfrm rot="0" flipH="false" flipV="false">
            <a:off x="8255000" y="2921000"/>
            <a:ext cx="1270000" cy="1270000"/>
          </a:xfrm>
          <a:prstGeom prst="rect">
            <a:avLst/>
          </a:prstGeom>
          <a:noFill/>
          <a:ln w="25400" cmpd="sng" cap="flat">
            <a:noFill/>
            <a:prstDash val="solid"/>
            <a:round/>
          </a:ln>
        </p:spPr>
      </p:pic>
      <p:pic>
        <p:nvPicPr>
          <p:cNvPr name="Picture 22" id="22"/>
          <p:cNvPicPr>
            <a:picLocks noChangeAspect="true"/>
          </p:cNvPicPr>
          <p:nvPr/>
        </p:nvPicPr>
        <p:blipFill>
          <a:blip r:embed="rId4"/>
          <a:srcRect l="0" r="0" t="0" b="0"/>
          <a:stretch>
            <a:fillRect/>
          </a:stretch>
        </p:blipFill>
        <p:spPr>
          <a:xfrm rot="0" flipH="false" flipV="false">
            <a:off x="6604000" y="4572000"/>
            <a:ext cx="1270000" cy="1270000"/>
          </a:xfrm>
          <a:prstGeom prst="rect">
            <a:avLst/>
          </a:prstGeom>
          <a:noFill/>
          <a:ln w="25400" cmpd="sng" cap="flat">
            <a:noFill/>
            <a:prstDash val="solid"/>
            <a:round/>
          </a:ln>
        </p:spPr>
      </p:pic>
      <p:pic>
        <p:nvPicPr>
          <p:cNvPr name="Picture 23" id="23"/>
          <p:cNvPicPr>
            <a:picLocks noChangeAspect="true"/>
          </p:cNvPicPr>
          <p:nvPr/>
        </p:nvPicPr>
        <p:blipFill>
          <a:blip r:embed="rId5"/>
          <a:srcRect l="0" r="0" t="0" b="0"/>
          <a:stretch>
            <a:fillRect/>
          </a:stretch>
        </p:blipFill>
        <p:spPr>
          <a:xfrm rot="0" flipH="false" flipV="false">
            <a:off x="8255000" y="4572000"/>
            <a:ext cx="1270000" cy="1270000"/>
          </a:xfrm>
          <a:prstGeom prst="rect">
            <a:avLst/>
          </a:prstGeom>
          <a:noFill/>
          <a:ln w="25400" cmpd="sng" cap="flat">
            <a:noFill/>
            <a:prstDash val="solid"/>
            <a:round/>
          </a:ln>
        </p:spPr>
      </p:pic>
      <p:sp>
        <p:nvSpPr>
          <p:cNvPr name="AutoShape 24" id="24"/>
          <p:cNvSpPr txBox="true"/>
          <p:nvPr/>
        </p:nvSpPr>
        <p:spPr>
          <a:xfrm rot="0" flipH="false" flipV="false">
            <a:off x="9906000" y="3683000"/>
            <a:ext cx="1016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6000">
                <a:solidFill>
                  <a:srgbClr val="DB714F"/>
                </a:solidFill>
                <a:latin typeface="Noto Sans SC"/>
                <a:ea typeface="Noto Sans SC"/>
                <a:cs typeface="Noto Sans SC"/>
                <a:sym typeface="Noto Sans SC"/>
              </a:rPr>
              <a:t>?</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DF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101600"/>
          </a:xfrm>
          <a:prstGeom prst="roundRect">
            <a:avLst>
              <a:gd name="adj" fmla="val 0"/>
            </a:avLst>
          </a:prstGeom>
          <a:solidFill>
            <a:srgbClr val="DB71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635000"/>
            <a:ext cx="2540000" cy="406400"/>
          </a:xfrm>
          <a:prstGeom prst="roundRect">
            <a:avLst>
              <a:gd name="adj" fmla="val 50000"/>
            </a:avLst>
          </a:prstGeom>
          <a:solidFill>
            <a:srgbClr val="DB71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txBox="true"/>
          <p:nvPr/>
        </p:nvSpPr>
        <p:spPr>
          <a:xfrm rot="0" flipH="false" flipV="false">
            <a:off x="1016000" y="685800"/>
            <a:ext cx="2540000" cy="304800"/>
          </a:xfrm>
          <a:prstGeom prst="rect">
            <a:avLst/>
          </a:prstGeom>
          <a:noFill/>
          <a:ln w="12700" cmpd="sng" cap="flat">
            <a:noFill/>
            <a:prstDash val="solid"/>
            <a:round/>
          </a:ln>
        </p:spPr>
        <p:txBody>
          <a:bodyPr anchor="ctr" rtlCol="false" anchorCtr="false" vert="horz" wrap="none" lIns="0" rIns="0" tIns="0" bIns="0"/>
          <a:lstStyle/>
          <a:p>
            <a:pPr algn="ctr" marL="0" indent="0">
              <a:lnSpc>
                <a:spcPct val="125000"/>
              </a:lnSpc>
              <a:defRPr/>
            </a:pPr>
            <a:r>
              <a:rPr lang="en-US" b="true" i="false" strike="noStrike" u="none" sz="1300">
                <a:solidFill>
                  <a:srgbClr val="FFFFFF"/>
                </a:solidFill>
                <a:latin typeface="Noto Sans SC"/>
                <a:ea typeface="Noto Sans SC"/>
                <a:cs typeface="Noto Sans SC"/>
                <a:sym typeface="Noto Sans SC"/>
              </a:rPr>
              <a:t>PART 3 · PRACTISE</a:t>
            </a:r>
            <a:endParaRPr lang="en-US" sz="1100"/>
          </a:p>
        </p:txBody>
      </p:sp>
      <p:sp>
        <p:nvSpPr>
          <p:cNvPr name="AutoShape 5" id="5"/>
          <p:cNvSpPr txBox="true"/>
          <p:nvPr/>
        </p:nvSpPr>
        <p:spPr>
          <a:xfrm rot="0" flipH="false" flipV="false">
            <a:off x="1016000" y="1270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B2F36"/>
                </a:solidFill>
                <a:latin typeface="Noto Sans SC"/>
                <a:ea typeface="Noto Sans SC"/>
                <a:cs typeface="Noto Sans SC"/>
                <a:sym typeface="Noto Sans SC"/>
              </a:rPr>
              <a:t>Now ask your friend!</a:t>
            </a:r>
            <a:endParaRPr lang="en-US" sz="1100"/>
          </a:p>
        </p:txBody>
      </p:sp>
      <p:sp>
        <p:nvSpPr>
          <p:cNvPr name="AutoShape 6" id="6"/>
          <p:cNvSpPr txBox="true"/>
          <p:nvPr/>
        </p:nvSpPr>
        <p:spPr>
          <a:xfrm rot="0" flipH="false" flipV="false">
            <a:off x="1016000" y="1968500"/>
            <a:ext cx="10160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DB714F"/>
                </a:solidFill>
                <a:latin typeface="Noto Sans SC"/>
                <a:ea typeface="Noto Sans SC"/>
                <a:cs typeface="Noto Sans SC"/>
                <a:sym typeface="Noto Sans SC"/>
              </a:rPr>
              <a:t>现在来问问你的朋友</a:t>
            </a:r>
            <a:endParaRPr lang="en-US" sz="1100"/>
          </a:p>
        </p:txBody>
      </p:sp>
      <p:sp>
        <p:nvSpPr>
          <p:cNvPr name="AutoShape 7" id="7"/>
          <p:cNvSpPr/>
          <p:nvPr/>
        </p:nvSpPr>
        <p:spPr>
          <a:xfrm rot="0" flipH="false" flipV="false">
            <a:off x="1270000" y="2921000"/>
            <a:ext cx="4572000" cy="1270000"/>
          </a:xfrm>
          <a:prstGeom prst="roundRect">
            <a:avLst>
              <a:gd name="adj" fmla="val 16000"/>
            </a:avLst>
          </a:prstGeom>
          <a:solidFill>
            <a:srgbClr val="FFF3EE">
              <a:alpha val="100000"/>
            </a:srgbClr>
          </a:solidFill>
          <a:ln w="25400" cmpd="sng" cap="flat">
            <a:solidFill>
              <a:srgbClr val="DB714F">
                <a:alpha val="100000"/>
              </a:srgbClr>
            </a:solidFill>
            <a:prstDash val="solid"/>
            <a:round/>
          </a:ln>
        </p:spPr>
        <p:txBody>
          <a:bodyPr anchor="ctr" rtlCol="false" vert="horz" wrap="square" lIns="63500" rIns="63500" tIns="63500" bIns="63500"/>
          <a:lstStyle/>
          <a:p>
            <a:pPr algn="ctr">
              <a:defRPr/>
            </a:pPr>
            <a:endParaRPr/>
          </a:p>
        </p:txBody>
      </p:sp>
      <p:sp>
        <p:nvSpPr>
          <p:cNvPr name="AutoShape 8" id="8"/>
          <p:cNvSpPr txBox="true"/>
          <p:nvPr/>
        </p:nvSpPr>
        <p:spPr>
          <a:xfrm rot="0" flipH="false" flipV="false">
            <a:off x="1524000" y="3111500"/>
            <a:ext cx="406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DB714F"/>
                </a:solidFill>
                <a:latin typeface="Noto Sans SC"/>
                <a:ea typeface="Noto Sans SC"/>
                <a:cs typeface="Noto Sans SC"/>
                <a:sym typeface="Noto Sans SC"/>
              </a:rPr>
              <a:t>ASK:</a:t>
            </a:r>
            <a:endParaRPr lang="en-US" sz="1100"/>
          </a:p>
        </p:txBody>
      </p:sp>
      <p:sp>
        <p:nvSpPr>
          <p:cNvPr name="AutoShape 9" id="9"/>
          <p:cNvSpPr txBox="true"/>
          <p:nvPr/>
        </p:nvSpPr>
        <p:spPr>
          <a:xfrm rot="0" flipH="false" flipV="false">
            <a:off x="1524000" y="3492500"/>
            <a:ext cx="406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2B2F36"/>
                </a:solidFill>
                <a:latin typeface="Noto Sans SC"/>
                <a:ea typeface="Noto Sans SC"/>
                <a:cs typeface="Noto Sans SC"/>
                <a:sym typeface="Noto Sans SC"/>
              </a:rPr>
              <a:t>你喜欢苹果吗？</a:t>
            </a:r>
            <a:endParaRPr lang="en-US" sz="1100"/>
          </a:p>
        </p:txBody>
      </p:sp>
      <p:sp>
        <p:nvSpPr>
          <p:cNvPr name="AutoShape 10" id="10"/>
          <p:cNvSpPr/>
          <p:nvPr/>
        </p:nvSpPr>
        <p:spPr>
          <a:xfrm rot="0" flipH="false" flipV="false">
            <a:off x="6604000" y="2921000"/>
            <a:ext cx="4572000" cy="1270000"/>
          </a:xfrm>
          <a:prstGeom prst="roundRect">
            <a:avLst>
              <a:gd name="adj" fmla="val 16000"/>
            </a:avLst>
          </a:prstGeom>
          <a:solidFill>
            <a:srgbClr val="F0F8F0">
              <a:alpha val="100000"/>
            </a:srgbClr>
          </a:solidFill>
          <a:ln w="25400" cmpd="sng" cap="flat">
            <a:solidFill>
              <a:srgbClr val="60AB70">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txBox="true"/>
          <p:nvPr/>
        </p:nvSpPr>
        <p:spPr>
          <a:xfrm rot="0" flipH="false" flipV="false">
            <a:off x="6858000" y="3111500"/>
            <a:ext cx="406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60AB70"/>
                </a:solidFill>
                <a:latin typeface="Noto Sans SC"/>
                <a:ea typeface="Noto Sans SC"/>
                <a:cs typeface="Noto Sans SC"/>
                <a:sym typeface="Noto Sans SC"/>
              </a:rPr>
              <a:t>ANSWER (yes):</a:t>
            </a:r>
            <a:endParaRPr lang="en-US" sz="1100"/>
          </a:p>
        </p:txBody>
      </p:sp>
      <p:sp>
        <p:nvSpPr>
          <p:cNvPr name="AutoShape 12" id="12"/>
          <p:cNvSpPr txBox="true"/>
          <p:nvPr/>
        </p:nvSpPr>
        <p:spPr>
          <a:xfrm rot="0" flipH="false" flipV="false">
            <a:off x="6858000" y="3492500"/>
            <a:ext cx="406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2B2F36"/>
                </a:solidFill>
                <a:latin typeface="Noto Sans SC"/>
                <a:ea typeface="Noto Sans SC"/>
                <a:cs typeface="Noto Sans SC"/>
                <a:sym typeface="Noto Sans SC"/>
              </a:rPr>
              <a:t>我喜欢苹果。</a:t>
            </a:r>
            <a:endParaRPr lang="en-US" sz="1100"/>
          </a:p>
        </p:txBody>
      </p:sp>
      <p:sp>
        <p:nvSpPr>
          <p:cNvPr name="AutoShape 13" id="13"/>
          <p:cNvSpPr/>
          <p:nvPr/>
        </p:nvSpPr>
        <p:spPr>
          <a:xfrm rot="0" flipH="false" flipV="false">
            <a:off x="6604000" y="4572000"/>
            <a:ext cx="4572000" cy="1270000"/>
          </a:xfrm>
          <a:prstGeom prst="roundRect">
            <a:avLst>
              <a:gd name="adj" fmla="val 16000"/>
            </a:avLst>
          </a:prstGeom>
          <a:solidFill>
            <a:srgbClr val="F8F0F0">
              <a:alpha val="100000"/>
            </a:srgbClr>
          </a:solidFill>
          <a:ln w="25400" cmpd="sng" cap="flat">
            <a:solidFill>
              <a:srgbClr val="C85050">
                <a:alpha val="100000"/>
              </a:srgbClr>
            </a:solidFill>
            <a:prstDash val="solid"/>
            <a:round/>
          </a:ln>
        </p:spPr>
        <p:txBody>
          <a:bodyPr anchor="ctr" rtlCol="false" vert="horz" wrap="square" lIns="63500" rIns="63500" tIns="63500" bIns="63500"/>
          <a:lstStyle/>
          <a:p>
            <a:pPr algn="ctr">
              <a:defRPr/>
            </a:pPr>
            <a:endParaRPr/>
          </a:p>
        </p:txBody>
      </p:sp>
      <p:sp>
        <p:nvSpPr>
          <p:cNvPr name="AutoShape 14" id="14"/>
          <p:cNvSpPr txBox="true"/>
          <p:nvPr/>
        </p:nvSpPr>
        <p:spPr>
          <a:xfrm rot="0" flipH="false" flipV="false">
            <a:off x="6858000" y="4762500"/>
            <a:ext cx="406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C85050"/>
                </a:solidFill>
                <a:latin typeface="Noto Sans SC"/>
                <a:ea typeface="Noto Sans SC"/>
                <a:cs typeface="Noto Sans SC"/>
                <a:sym typeface="Noto Sans SC"/>
              </a:rPr>
              <a:t>ANSWER (no):</a:t>
            </a:r>
            <a:endParaRPr lang="en-US" sz="1100"/>
          </a:p>
        </p:txBody>
      </p:sp>
      <p:sp>
        <p:nvSpPr>
          <p:cNvPr name="AutoShape 15" id="15"/>
          <p:cNvSpPr txBox="true"/>
          <p:nvPr/>
        </p:nvSpPr>
        <p:spPr>
          <a:xfrm rot="0" flipH="false" flipV="false">
            <a:off x="6858000" y="5143500"/>
            <a:ext cx="406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2B2F36"/>
                </a:solidFill>
                <a:latin typeface="Noto Sans SC"/>
                <a:ea typeface="Noto Sans SC"/>
                <a:cs typeface="Noto Sans SC"/>
                <a:sym typeface="Noto Sans SC"/>
              </a:rPr>
              <a:t>我不喜欢苹果。</a:t>
            </a:r>
            <a:endParaRPr lang="en-US" sz="1100"/>
          </a:p>
        </p:txBody>
      </p:sp>
      <p:pic>
        <p:nvPicPr>
          <p:cNvPr name="Picture 16" id="16"/>
          <p:cNvPicPr>
            <a:picLocks noChangeAspect="true"/>
          </p:cNvPicPr>
          <p:nvPr/>
        </p:nvPicPr>
        <p:blipFill>
          <a:blip r:embed="rId2"/>
          <a:srcRect l="0" r="0" t="0" b="0"/>
          <a:stretch>
            <a:fillRect/>
          </a:stretch>
        </p:blipFill>
        <p:spPr>
          <a:xfrm rot="0" flipH="false" flipV="false">
            <a:off x="1524000" y="4699000"/>
            <a:ext cx="1016000" cy="1016000"/>
          </a:xfrm>
          <a:prstGeom prst="rect">
            <a:avLst/>
          </a:prstGeom>
          <a:noFill/>
          <a:ln w="25400" cmpd="sng" cap="flat">
            <a:noFill/>
            <a:prstDash val="solid"/>
            <a:round/>
          </a:ln>
        </p:spPr>
      </p:pic>
      <p:sp>
        <p:nvSpPr>
          <p:cNvPr name="AutoShape 17" id="17"/>
          <p:cNvSpPr txBox="true"/>
          <p:nvPr/>
        </p:nvSpPr>
        <p:spPr>
          <a:xfrm rot="0" flipH="false" flipV="false">
            <a:off x="1016000" y="6096000"/>
            <a:ext cx="10160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969696"/>
                </a:solidFill>
                <a:latin typeface="Noto Sans SC"/>
                <a:ea typeface="Noto Sans SC"/>
                <a:cs typeface="Noto Sans SC"/>
                <a:sym typeface="Noto Sans SC"/>
              </a:rPr>
              <a:t>Now turn to your partner and ask! Try all four foods.</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DF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101600"/>
          </a:xfrm>
          <a:prstGeom prst="roundRect">
            <a:avLst>
              <a:gd name="adj" fmla="val 0"/>
            </a:avLst>
          </a:prstGeom>
          <a:solidFill>
            <a:srgbClr val="60AB7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635000"/>
            <a:ext cx="2286000" cy="406400"/>
          </a:xfrm>
          <a:prstGeom prst="roundRect">
            <a:avLst>
              <a:gd name="adj" fmla="val 50000"/>
            </a:avLst>
          </a:prstGeom>
          <a:solidFill>
            <a:srgbClr val="60AB7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txBox="true"/>
          <p:nvPr/>
        </p:nvSpPr>
        <p:spPr>
          <a:xfrm rot="0" flipH="false" flipV="false">
            <a:off x="1016000" y="685800"/>
            <a:ext cx="2286000" cy="304800"/>
          </a:xfrm>
          <a:prstGeom prst="rect">
            <a:avLst/>
          </a:prstGeom>
          <a:noFill/>
          <a:ln w="12700" cmpd="sng" cap="flat">
            <a:noFill/>
            <a:prstDash val="solid"/>
            <a:round/>
          </a:ln>
        </p:spPr>
        <p:txBody>
          <a:bodyPr anchor="ctr" rtlCol="false" anchorCtr="false" vert="horz" wrap="none" lIns="0" rIns="0" tIns="0" bIns="0"/>
          <a:lstStyle/>
          <a:p>
            <a:pPr algn="ctr" marL="0" indent="0">
              <a:lnSpc>
                <a:spcPct val="125000"/>
              </a:lnSpc>
              <a:defRPr/>
            </a:pPr>
            <a:r>
              <a:rPr lang="en-US" b="true" i="false" strike="noStrike" u="none" sz="1300">
                <a:solidFill>
                  <a:srgbClr val="FFFFFF"/>
                </a:solidFill>
                <a:latin typeface="Noto Sans SC"/>
                <a:ea typeface="Noto Sans SC"/>
                <a:cs typeface="Noto Sans SC"/>
                <a:sym typeface="Noto Sans SC"/>
              </a:rPr>
              <a:t>PART 4 · WRAP-UP</a:t>
            </a:r>
            <a:endParaRPr lang="en-US" sz="1100"/>
          </a:p>
        </p:txBody>
      </p:sp>
      <p:sp>
        <p:nvSpPr>
          <p:cNvPr name="AutoShape 5" id="5"/>
          <p:cNvSpPr txBox="true"/>
          <p:nvPr/>
        </p:nvSpPr>
        <p:spPr>
          <a:xfrm rot="0" flipH="false" flipV="false">
            <a:off x="1016000" y="1270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B2F36"/>
                </a:solidFill>
                <a:latin typeface="Noto Sans SC"/>
                <a:ea typeface="Noto Sans SC"/>
                <a:cs typeface="Noto Sans SC"/>
                <a:sym typeface="Noto Sans SC"/>
              </a:rPr>
              <a:t>Well done! What did we learn?</a:t>
            </a:r>
            <a:endParaRPr lang="en-US" sz="1100"/>
          </a:p>
        </p:txBody>
      </p:sp>
      <p:sp>
        <p:nvSpPr>
          <p:cNvPr name="AutoShape 6" id="6"/>
          <p:cNvSpPr txBox="true"/>
          <p:nvPr/>
        </p:nvSpPr>
        <p:spPr>
          <a:xfrm rot="0" flipH="false" flipV="false">
            <a:off x="1016000" y="1968500"/>
            <a:ext cx="10160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60AB70"/>
                </a:solidFill>
                <a:latin typeface="Noto Sans SC"/>
                <a:ea typeface="Noto Sans SC"/>
                <a:cs typeface="Noto Sans SC"/>
                <a:sym typeface="Noto Sans SC"/>
              </a:rPr>
              <a:t>太棒了！今天我们学了什么？</a:t>
            </a:r>
            <a:endParaRPr lang="en-US" sz="1100"/>
          </a:p>
        </p:txBody>
      </p:sp>
      <p:pic>
        <p:nvPicPr>
          <p:cNvPr name="Picture 7" id="7"/>
          <p:cNvPicPr>
            <a:picLocks noChangeAspect="true"/>
          </p:cNvPicPr>
          <p:nvPr/>
        </p:nvPicPr>
        <p:blipFill>
          <a:blip r:embed="rId2"/>
          <a:srcRect l="0" r="0" t="0" b="0"/>
          <a:stretch>
            <a:fillRect/>
          </a:stretch>
        </p:blipFill>
        <p:spPr>
          <a:xfrm rot="0" flipH="false" flipV="false">
            <a:off x="1270000" y="2794000"/>
            <a:ext cx="1270000" cy="1270000"/>
          </a:xfrm>
          <a:prstGeom prst="rect">
            <a:avLst/>
          </a:prstGeom>
          <a:noFill/>
          <a:ln w="25400" cmpd="sng" cap="flat">
            <a:noFill/>
            <a:prstDash val="solid"/>
            <a:round/>
          </a:ln>
        </p:spPr>
      </p:pic>
      <p:sp>
        <p:nvSpPr>
          <p:cNvPr name="AutoShape 8" id="8"/>
          <p:cNvSpPr txBox="true"/>
          <p:nvPr/>
        </p:nvSpPr>
        <p:spPr>
          <a:xfrm rot="0" flipH="false" flipV="false">
            <a:off x="1143000" y="4127500"/>
            <a:ext cx="1524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800">
                <a:solidFill>
                  <a:srgbClr val="2B2F36"/>
                </a:solidFill>
                <a:latin typeface="Noto Sans SC"/>
                <a:ea typeface="Noto Sans SC"/>
                <a:cs typeface="Noto Sans SC"/>
                <a:sym typeface="Noto Sans SC"/>
              </a:rPr>
              <a:t>苹果</a:t>
            </a:r>
            <a:endParaRPr lang="en-US" sz="1100"/>
          </a:p>
        </p:txBody>
      </p:sp>
      <p:pic>
        <p:nvPicPr>
          <p:cNvPr name="Picture 9" id="9"/>
          <p:cNvPicPr>
            <a:picLocks noChangeAspect="true"/>
          </p:cNvPicPr>
          <p:nvPr/>
        </p:nvPicPr>
        <p:blipFill>
          <a:blip r:embed="rId3"/>
          <a:srcRect l="0" r="0" t="0" b="0"/>
          <a:stretch>
            <a:fillRect/>
          </a:stretch>
        </p:blipFill>
        <p:spPr>
          <a:xfrm rot="0" flipH="false" flipV="false">
            <a:off x="3556000" y="2794000"/>
            <a:ext cx="1270000" cy="1270000"/>
          </a:xfrm>
          <a:prstGeom prst="rect">
            <a:avLst/>
          </a:prstGeom>
          <a:noFill/>
          <a:ln w="25400" cmpd="sng" cap="flat">
            <a:noFill/>
            <a:prstDash val="solid"/>
            <a:round/>
          </a:ln>
        </p:spPr>
      </p:pic>
      <p:sp>
        <p:nvSpPr>
          <p:cNvPr name="AutoShape 10" id="10"/>
          <p:cNvSpPr txBox="true"/>
          <p:nvPr/>
        </p:nvSpPr>
        <p:spPr>
          <a:xfrm rot="0" flipH="false" flipV="false">
            <a:off x="3429000" y="4127500"/>
            <a:ext cx="1524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800">
                <a:solidFill>
                  <a:srgbClr val="2B2F36"/>
                </a:solidFill>
                <a:latin typeface="Noto Sans SC"/>
                <a:ea typeface="Noto Sans SC"/>
                <a:cs typeface="Noto Sans SC"/>
                <a:sym typeface="Noto Sans SC"/>
              </a:rPr>
              <a:t>香蕉</a:t>
            </a:r>
            <a:endParaRPr lang="en-US" sz="1100"/>
          </a:p>
        </p:txBody>
      </p:sp>
      <p:pic>
        <p:nvPicPr>
          <p:cNvPr name="Picture 11" id="11"/>
          <p:cNvPicPr>
            <a:picLocks noChangeAspect="true"/>
          </p:cNvPicPr>
          <p:nvPr/>
        </p:nvPicPr>
        <p:blipFill>
          <a:blip r:embed="rId4"/>
          <a:srcRect l="0" r="0" t="0" b="0"/>
          <a:stretch>
            <a:fillRect/>
          </a:stretch>
        </p:blipFill>
        <p:spPr>
          <a:xfrm rot="0" flipH="false" flipV="false">
            <a:off x="5842000" y="2794000"/>
            <a:ext cx="1270000" cy="1270000"/>
          </a:xfrm>
          <a:prstGeom prst="rect">
            <a:avLst/>
          </a:prstGeom>
          <a:noFill/>
          <a:ln w="25400" cmpd="sng" cap="flat">
            <a:noFill/>
            <a:prstDash val="solid"/>
            <a:round/>
          </a:ln>
        </p:spPr>
      </p:pic>
      <p:sp>
        <p:nvSpPr>
          <p:cNvPr name="AutoShape 12" id="12"/>
          <p:cNvSpPr txBox="true"/>
          <p:nvPr/>
        </p:nvSpPr>
        <p:spPr>
          <a:xfrm rot="0" flipH="false" flipV="false">
            <a:off x="5715000" y="4127500"/>
            <a:ext cx="1524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800">
                <a:solidFill>
                  <a:srgbClr val="2B2F36"/>
                </a:solidFill>
                <a:latin typeface="Noto Sans SC"/>
                <a:ea typeface="Noto Sans SC"/>
                <a:cs typeface="Noto Sans SC"/>
                <a:sym typeface="Noto Sans SC"/>
              </a:rPr>
              <a:t>米饭</a:t>
            </a:r>
            <a:endParaRPr lang="en-US" sz="1100"/>
          </a:p>
        </p:txBody>
      </p:sp>
      <p:pic>
        <p:nvPicPr>
          <p:cNvPr name="Picture 13" id="13"/>
          <p:cNvPicPr>
            <a:picLocks noChangeAspect="true"/>
          </p:cNvPicPr>
          <p:nvPr/>
        </p:nvPicPr>
        <p:blipFill>
          <a:blip r:embed="rId5"/>
          <a:srcRect l="0" r="0" t="0" b="0"/>
          <a:stretch>
            <a:fillRect/>
          </a:stretch>
        </p:blipFill>
        <p:spPr>
          <a:xfrm rot="0" flipH="false" flipV="false">
            <a:off x="8128000" y="2794000"/>
            <a:ext cx="1270000" cy="1270000"/>
          </a:xfrm>
          <a:prstGeom prst="rect">
            <a:avLst/>
          </a:prstGeom>
          <a:noFill/>
          <a:ln w="25400" cmpd="sng" cap="flat">
            <a:noFill/>
            <a:prstDash val="solid"/>
            <a:round/>
          </a:ln>
        </p:spPr>
      </p:pic>
      <p:sp>
        <p:nvSpPr>
          <p:cNvPr name="AutoShape 14" id="14"/>
          <p:cNvSpPr txBox="true"/>
          <p:nvPr/>
        </p:nvSpPr>
        <p:spPr>
          <a:xfrm rot="0" flipH="false" flipV="false">
            <a:off x="8001000" y="4127500"/>
            <a:ext cx="1524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800">
                <a:solidFill>
                  <a:srgbClr val="2B2F36"/>
                </a:solidFill>
                <a:latin typeface="Noto Sans SC"/>
                <a:ea typeface="Noto Sans SC"/>
                <a:cs typeface="Noto Sans SC"/>
                <a:sym typeface="Noto Sans SC"/>
              </a:rPr>
              <a:t>水</a:t>
            </a:r>
            <a:endParaRPr lang="en-US" sz="1100"/>
          </a:p>
        </p:txBody>
      </p:sp>
      <p:sp>
        <p:nvSpPr>
          <p:cNvPr name="AutoShape 15" id="15"/>
          <p:cNvSpPr/>
          <p:nvPr/>
        </p:nvSpPr>
        <p:spPr>
          <a:xfrm rot="0" flipH="false" flipV="false">
            <a:off x="1270000" y="4953000"/>
            <a:ext cx="9652000" cy="889000"/>
          </a:xfrm>
          <a:prstGeom prst="roundRect">
            <a:avLst>
              <a:gd name="adj" fmla="val 22857"/>
            </a:avLst>
          </a:prstGeom>
          <a:solidFill>
            <a:srgbClr val="F0F8F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txBox="true"/>
          <p:nvPr/>
        </p:nvSpPr>
        <p:spPr>
          <a:xfrm rot="0" flipH="false" flipV="false">
            <a:off x="1524000" y="5143500"/>
            <a:ext cx="9144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000">
                <a:solidFill>
                  <a:srgbClr val="60AB70"/>
                </a:solidFill>
                <a:latin typeface="Noto Sans SC"/>
                <a:ea typeface="Noto Sans SC"/>
                <a:cs typeface="Noto Sans SC"/>
                <a:sym typeface="Noto Sans SC"/>
              </a:rPr>
              <a:t>我喜欢苹果。你喜欢香蕉吗？</a:t>
            </a:r>
            <a:endParaRPr lang="en-US" sz="1100"/>
          </a:p>
        </p:txBody>
      </p:sp>
      <p:sp>
        <p:nvSpPr>
          <p:cNvPr name="AutoShape 17" id="17"/>
          <p:cNvSpPr txBox="true"/>
          <p:nvPr/>
        </p:nvSpPr>
        <p:spPr>
          <a:xfrm rot="0" flipH="false" flipV="false">
            <a:off x="1016000" y="6096000"/>
            <a:ext cx="10160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969696"/>
                </a:solidFill>
                <a:latin typeface="Noto Sans SC"/>
                <a:ea typeface="Noto Sans SC"/>
                <a:cs typeface="Noto Sans SC"/>
                <a:sym typeface="Noto Sans SC"/>
              </a:rPr>
              <a:t>Next time we'll learn more food words! 下次见！</a:t>
            </a:r>
            <a:endParaRPr lang="en-US" sz="1100"/>
          </a:p>
        </p:txBody>
      </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{"Label":"1","ContentProducer":"001191110102MACQD9K64010000","ProduceID":"7699448989918186801","ReservedCode1":"","ContentPropagator":"","PropagateID":"","ReservedCode2":""}</vt:lpwstr>
  </property>
</Properties>
</file>